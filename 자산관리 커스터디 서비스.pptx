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18288000" cy="10287000"/>
  <p:notesSz cx="6858000" cy="9144000"/>
  <p:embeddedFontLst>
    <p:embeddedFont>
      <p:font typeface="HY헤드라인M" panose="02030600000101010101" pitchFamily="18" charset="-127"/>
      <p:regular r:id="rId12"/>
    </p:embeddedFont>
    <p:embeddedFont>
      <p:font typeface="JASO Sans" panose="020B0604020202020204" charset="-127"/>
      <p:regular r:id="rId13"/>
    </p:embeddedFont>
    <p:embeddedFont>
      <p:font typeface="JASO Sans Bold" panose="020B0604020202020204" charset="-127"/>
      <p:regular r:id="rId14"/>
    </p:embeddedFont>
    <p:embeddedFont>
      <p:font typeface="JASO Sans Light" panose="020B0604020202020204" charset="-127"/>
      <p:regular r:id="rId15"/>
    </p:embeddedFont>
    <p:embeddedFont>
      <p:font typeface="Noto Sans Kr Bold" panose="020B0604020202020204" charset="-128"/>
      <p:regular r:id="rId16"/>
      <p:bold r:id="rId17"/>
    </p:embeddedFont>
    <p:embeddedFont>
      <p:font typeface="Montserrat Semi-Bold" panose="020B0604020202020204" charset="0"/>
      <p:regular r:id="rId18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FD74E822-5323-A407-CC08-576E62D2C1B9}" v="6" dt="2025-10-22T08:15:33.464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 autoAdjust="0"/>
    <p:restoredTop sz="94622" autoAdjust="0"/>
  </p:normalViewPr>
  <p:slideViewPr>
    <p:cSldViewPr>
      <p:cViewPr varScale="1">
        <p:scale>
          <a:sx n="52" d="100"/>
          <a:sy n="52" d="100"/>
        </p:scale>
        <p:origin x="850" y="62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2.fntdata"/><Relationship Id="rId18" Type="http://schemas.openxmlformats.org/officeDocument/2006/relationships/font" Target="fonts/font7.fntdata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font" Target="fonts/font1.fntdata"/><Relationship Id="rId17" Type="http://schemas.openxmlformats.org/officeDocument/2006/relationships/font" Target="fonts/font6.fntdata"/><Relationship Id="rId2" Type="http://schemas.openxmlformats.org/officeDocument/2006/relationships/slide" Target="slides/slide1.xml"/><Relationship Id="rId16" Type="http://schemas.openxmlformats.org/officeDocument/2006/relationships/font" Target="fonts/font5.fntdata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microsoft.com/office/2015/10/relationships/revisionInfo" Target="revisionInfo.xml"/><Relationship Id="rId5" Type="http://schemas.openxmlformats.org/officeDocument/2006/relationships/slide" Target="slides/slide4.xml"/><Relationship Id="rId15" Type="http://schemas.openxmlformats.org/officeDocument/2006/relationships/font" Target="fonts/font4.fntdata"/><Relationship Id="rId23" Type="http://schemas.microsoft.com/office/2016/11/relationships/changesInfo" Target="changesInfos/changesInfo1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3.fntdata"/><Relationship Id="rId22" Type="http://schemas.openxmlformats.org/officeDocument/2006/relationships/tableStyles" Target="tableStyle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게스트 사용자" userId="S::urn:spo:tenantanon#b6ba9f79-06da-4603-9879-fbd3cc087103::" providerId="AD" clId="Web-{FD74E822-5323-A407-CC08-576E62D2C1B9}"/>
    <pc:docChg chg="modSld">
      <pc:chgData name="게스트 사용자" userId="S::urn:spo:tenantanon#b6ba9f79-06da-4603-9879-fbd3cc087103::" providerId="AD" clId="Web-{FD74E822-5323-A407-CC08-576E62D2C1B9}" dt="2025-10-22T08:15:33.464" v="5" actId="1076"/>
      <pc:docMkLst>
        <pc:docMk/>
      </pc:docMkLst>
      <pc:sldChg chg="modSp">
        <pc:chgData name="게스트 사용자" userId="S::urn:spo:tenantanon#b6ba9f79-06da-4603-9879-fbd3cc087103::" providerId="AD" clId="Web-{FD74E822-5323-A407-CC08-576E62D2C1B9}" dt="2025-10-22T08:15:33.464" v="5" actId="1076"/>
        <pc:sldMkLst>
          <pc:docMk/>
          <pc:sldMk cId="0" sldId="258"/>
        </pc:sldMkLst>
        <pc:spChg chg="mod">
          <ac:chgData name="게스트 사용자" userId="S::urn:spo:tenantanon#b6ba9f79-06da-4603-9879-fbd3cc087103::" providerId="AD" clId="Web-{FD74E822-5323-A407-CC08-576E62D2C1B9}" dt="2025-10-22T08:15:33.464" v="5" actId="1076"/>
          <ac:spMkLst>
            <pc:docMk/>
            <pc:sldMk cId="0" sldId="258"/>
            <ac:spMk id="19" creationId="{00000000-0000-0000-0000-000000000000}"/>
          </ac:spMkLst>
        </pc:sp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10/22/2025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10/22/2025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10/22/2025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10/22/2025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10/22/2025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10/22/2025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10/22/2025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10/22/2025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10/22/2025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10/22/2025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10/22/2025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10/22/2025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B2B2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1785222" y="6404384"/>
            <a:ext cx="15131177" cy="3231462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13719"/>
              </a:lnSpc>
            </a:pPr>
            <a:r>
              <a:rPr lang="en-US" sz="7200" b="1" dirty="0" err="1">
                <a:solidFill>
                  <a:srgbClr val="EFEFEF"/>
                </a:solidFill>
                <a:latin typeface="HY헤드라인M" panose="02030600000101010101" pitchFamily="18" charset="-127"/>
                <a:ea typeface="HY헤드라인M" panose="02030600000101010101" pitchFamily="18" charset="-127"/>
                <a:cs typeface="Montserrat Semi-Bold"/>
                <a:sym typeface="Montserrat Semi-Bold"/>
              </a:rPr>
              <a:t>중장년층</a:t>
            </a:r>
            <a:r>
              <a:rPr lang="en-US" sz="7200" b="1" dirty="0">
                <a:solidFill>
                  <a:srgbClr val="EFEFEF"/>
                </a:solidFill>
                <a:latin typeface="HY헤드라인M" panose="02030600000101010101" pitchFamily="18" charset="-127"/>
                <a:ea typeface="HY헤드라인M" panose="02030600000101010101" pitchFamily="18" charset="-127"/>
                <a:cs typeface="Montserrat Semi-Bold"/>
                <a:sym typeface="Montserrat Semi-Bold"/>
              </a:rPr>
              <a:t> </a:t>
            </a:r>
            <a:r>
              <a:rPr lang="en-US" sz="7200" b="1" dirty="0" err="1">
                <a:solidFill>
                  <a:srgbClr val="EFEFEF"/>
                </a:solidFill>
                <a:latin typeface="HY헤드라인M" panose="02030600000101010101" pitchFamily="18" charset="-127"/>
                <a:ea typeface="HY헤드라인M" panose="02030600000101010101" pitchFamily="18" charset="-127"/>
                <a:cs typeface="Montserrat Semi-Bold"/>
                <a:sym typeface="Montserrat Semi-Bold"/>
              </a:rPr>
              <a:t>타겟</a:t>
            </a:r>
            <a:endParaRPr lang="en-US" sz="7200" b="1" dirty="0">
              <a:solidFill>
                <a:srgbClr val="EFEFEF"/>
              </a:solidFill>
              <a:latin typeface="HY헤드라인M" panose="02030600000101010101" pitchFamily="18" charset="-127"/>
              <a:ea typeface="HY헤드라인M" panose="02030600000101010101" pitchFamily="18" charset="-127"/>
              <a:cs typeface="Montserrat Semi-Bold"/>
              <a:sym typeface="Montserrat Semi-Bold"/>
            </a:endParaRPr>
          </a:p>
          <a:p>
            <a:pPr algn="ctr">
              <a:lnSpc>
                <a:spcPts val="13719"/>
              </a:lnSpc>
              <a:spcBef>
                <a:spcPct val="0"/>
              </a:spcBef>
            </a:pPr>
            <a:r>
              <a:rPr lang="en-US" sz="7200" dirty="0" err="1">
                <a:solidFill>
                  <a:srgbClr val="EFEFEF"/>
                </a:solidFill>
                <a:latin typeface="HY헤드라인M" panose="02030600000101010101" pitchFamily="18" charset="-127"/>
                <a:ea typeface="HY헤드라인M" panose="02030600000101010101" pitchFamily="18" charset="-127"/>
                <a:cs typeface="Montserrat"/>
                <a:sym typeface="Montserrat"/>
              </a:rPr>
              <a:t>디지털</a:t>
            </a:r>
            <a:r>
              <a:rPr lang="en-US" sz="7200" dirty="0">
                <a:solidFill>
                  <a:srgbClr val="EFEFEF"/>
                </a:solidFill>
                <a:latin typeface="HY헤드라인M" panose="02030600000101010101" pitchFamily="18" charset="-127"/>
                <a:ea typeface="HY헤드라인M" panose="02030600000101010101" pitchFamily="18" charset="-127"/>
                <a:cs typeface="Montserrat"/>
                <a:sym typeface="Montserrat"/>
              </a:rPr>
              <a:t> </a:t>
            </a:r>
            <a:r>
              <a:rPr lang="en-US" sz="7200" dirty="0" err="1">
                <a:solidFill>
                  <a:srgbClr val="EFEFEF"/>
                </a:solidFill>
                <a:latin typeface="HY헤드라인M" panose="02030600000101010101" pitchFamily="18" charset="-127"/>
                <a:ea typeface="HY헤드라인M" panose="02030600000101010101" pitchFamily="18" charset="-127"/>
                <a:cs typeface="Montserrat"/>
                <a:sym typeface="Montserrat"/>
              </a:rPr>
              <a:t>자산</a:t>
            </a:r>
            <a:r>
              <a:rPr lang="en-US" sz="7200" dirty="0">
                <a:solidFill>
                  <a:srgbClr val="EFEFEF"/>
                </a:solidFill>
                <a:latin typeface="HY헤드라인M" panose="02030600000101010101" pitchFamily="18" charset="-127"/>
                <a:ea typeface="HY헤드라인M" panose="02030600000101010101" pitchFamily="18" charset="-127"/>
                <a:cs typeface="Montserrat"/>
                <a:sym typeface="Montserrat"/>
              </a:rPr>
              <a:t> </a:t>
            </a:r>
            <a:r>
              <a:rPr lang="en-US" sz="7200" dirty="0" err="1">
                <a:solidFill>
                  <a:srgbClr val="EFEFEF"/>
                </a:solidFill>
                <a:latin typeface="HY헤드라인M" panose="02030600000101010101" pitchFamily="18" charset="-127"/>
                <a:ea typeface="HY헤드라인M" panose="02030600000101010101" pitchFamily="18" charset="-127"/>
                <a:cs typeface="Montserrat"/>
                <a:sym typeface="Montserrat"/>
              </a:rPr>
              <a:t>커스터디</a:t>
            </a:r>
            <a:r>
              <a:rPr lang="en-US" sz="7200" dirty="0">
                <a:solidFill>
                  <a:srgbClr val="EFEFEF"/>
                </a:solidFill>
                <a:latin typeface="HY헤드라인M" panose="02030600000101010101" pitchFamily="18" charset="-127"/>
                <a:ea typeface="HY헤드라인M" panose="02030600000101010101" pitchFamily="18" charset="-127"/>
                <a:cs typeface="Montserrat"/>
                <a:sym typeface="Montserrat"/>
              </a:rPr>
              <a:t> </a:t>
            </a:r>
            <a:r>
              <a:rPr lang="en-US" sz="7200" dirty="0" err="1">
                <a:solidFill>
                  <a:srgbClr val="EFEFEF"/>
                </a:solidFill>
                <a:latin typeface="HY헤드라인M" panose="02030600000101010101" pitchFamily="18" charset="-127"/>
                <a:ea typeface="HY헤드라인M" panose="02030600000101010101" pitchFamily="18" charset="-127"/>
                <a:cs typeface="Montserrat"/>
                <a:sym typeface="Montserrat"/>
              </a:rPr>
              <a:t>서비스</a:t>
            </a:r>
            <a:endParaRPr lang="en-US" sz="7200" dirty="0">
              <a:solidFill>
                <a:srgbClr val="EFEFEF"/>
              </a:solidFill>
              <a:latin typeface="HY헤드라인M" panose="02030600000101010101" pitchFamily="18" charset="-127"/>
              <a:ea typeface="HY헤드라인M" panose="02030600000101010101" pitchFamily="18" charset="-127"/>
              <a:cs typeface="Montserrat"/>
              <a:sym typeface="Montserrat"/>
            </a:endParaRPr>
          </a:p>
        </p:txBody>
      </p:sp>
      <p:sp>
        <p:nvSpPr>
          <p:cNvPr id="3" name="TextBox 3"/>
          <p:cNvSpPr txBox="1"/>
          <p:nvPr/>
        </p:nvSpPr>
        <p:spPr>
          <a:xfrm>
            <a:off x="7693164" y="811530"/>
            <a:ext cx="2901672" cy="3397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800"/>
              </a:lnSpc>
              <a:spcBef>
                <a:spcPct val="0"/>
              </a:spcBef>
            </a:pPr>
            <a:r>
              <a:rPr lang="en-US" sz="2000" b="1">
                <a:solidFill>
                  <a:srgbClr val="EFEFEF"/>
                </a:solidFill>
                <a:latin typeface="Montserrat Semi-Bold"/>
                <a:ea typeface="Montserrat Semi-Bold"/>
                <a:cs typeface="Montserrat Semi-Bold"/>
                <a:sym typeface="Montserrat Semi-Bold"/>
              </a:rPr>
              <a:t>At earlist convenience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B2B2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4876801" y="4288155"/>
            <a:ext cx="8458200" cy="3008644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3359"/>
              </a:lnSpc>
            </a:pPr>
            <a:r>
              <a:rPr lang="en-US" sz="2400" dirty="0" err="1">
                <a:solidFill>
                  <a:srgbClr val="EFEFEF"/>
                </a:solidFill>
                <a:latin typeface="JASO Sans Light"/>
                <a:ea typeface="JASO Sans Light"/>
                <a:cs typeface="JASO Sans Light"/>
                <a:sym typeface="JASO Sans Light"/>
              </a:rPr>
              <a:t>체인,지갑</a:t>
            </a:r>
            <a:r>
              <a:rPr lang="en-US" sz="2400" dirty="0">
                <a:solidFill>
                  <a:srgbClr val="EFEFEF"/>
                </a:solidFill>
                <a:latin typeface="JASO Sans Light"/>
                <a:ea typeface="JASO Sans Light"/>
                <a:cs typeface="JASO Sans Light"/>
                <a:sym typeface="JASO Sans Light"/>
              </a:rPr>
              <a:t> </a:t>
            </a:r>
            <a:r>
              <a:rPr lang="en-US" sz="2400" dirty="0" err="1">
                <a:solidFill>
                  <a:srgbClr val="EFEFEF"/>
                </a:solidFill>
                <a:latin typeface="JASO Sans Light"/>
                <a:ea typeface="JASO Sans Light"/>
                <a:cs typeface="JASO Sans Light"/>
                <a:sym typeface="JASO Sans Light"/>
              </a:rPr>
              <a:t>관리가</a:t>
            </a:r>
            <a:r>
              <a:rPr lang="en-US" sz="2400" dirty="0">
                <a:solidFill>
                  <a:srgbClr val="EFEFEF"/>
                </a:solidFill>
                <a:latin typeface="JASO Sans Light"/>
                <a:ea typeface="JASO Sans Light"/>
                <a:cs typeface="JASO Sans Light"/>
                <a:sym typeface="JASO Sans Light"/>
              </a:rPr>
              <a:t> </a:t>
            </a:r>
            <a:r>
              <a:rPr lang="en-US" sz="2400" dirty="0" err="1">
                <a:solidFill>
                  <a:srgbClr val="EFEFEF"/>
                </a:solidFill>
                <a:latin typeface="JASO Sans Light"/>
                <a:ea typeface="JASO Sans Light"/>
                <a:cs typeface="JASO Sans Light"/>
                <a:sym typeface="JASO Sans Light"/>
              </a:rPr>
              <a:t>복잡하고</a:t>
            </a:r>
            <a:r>
              <a:rPr lang="en-US" sz="2400" dirty="0">
                <a:solidFill>
                  <a:srgbClr val="EFEFEF"/>
                </a:solidFill>
                <a:latin typeface="JASO Sans Light"/>
                <a:ea typeface="JASO Sans Light"/>
                <a:cs typeface="JASO Sans Light"/>
                <a:sym typeface="JASO Sans Light"/>
              </a:rPr>
              <a:t> </a:t>
            </a:r>
            <a:r>
              <a:rPr lang="en-US" sz="2400" dirty="0" err="1">
                <a:solidFill>
                  <a:srgbClr val="EFEFEF"/>
                </a:solidFill>
                <a:latin typeface="JASO Sans Light"/>
                <a:ea typeface="JASO Sans Light"/>
                <a:cs typeface="JASO Sans Light"/>
                <a:sym typeface="JASO Sans Light"/>
              </a:rPr>
              <a:t>간수가</a:t>
            </a:r>
            <a:r>
              <a:rPr lang="en-US" sz="2400" dirty="0">
                <a:solidFill>
                  <a:srgbClr val="EFEFEF"/>
                </a:solidFill>
                <a:latin typeface="JASO Sans Light"/>
                <a:ea typeface="JASO Sans Light"/>
                <a:cs typeface="JASO Sans Light"/>
                <a:sym typeface="JASO Sans Light"/>
              </a:rPr>
              <a:t> </a:t>
            </a:r>
            <a:r>
              <a:rPr lang="en-US" sz="2400" dirty="0" err="1">
                <a:solidFill>
                  <a:srgbClr val="EFEFEF"/>
                </a:solidFill>
                <a:latin typeface="JASO Sans Light"/>
                <a:ea typeface="JASO Sans Light"/>
                <a:cs typeface="JASO Sans Light"/>
                <a:sym typeface="JASO Sans Light"/>
              </a:rPr>
              <a:t>어렵다</a:t>
            </a:r>
            <a:r>
              <a:rPr lang="en-US" sz="2400" dirty="0">
                <a:solidFill>
                  <a:srgbClr val="EFEFEF"/>
                </a:solidFill>
                <a:latin typeface="JASO Sans Light"/>
                <a:ea typeface="JASO Sans Light"/>
                <a:cs typeface="JASO Sans Light"/>
                <a:sym typeface="JASO Sans Light"/>
              </a:rPr>
              <a:t>.</a:t>
            </a:r>
          </a:p>
          <a:p>
            <a:pPr algn="ctr">
              <a:lnSpc>
                <a:spcPts val="3359"/>
              </a:lnSpc>
            </a:pPr>
            <a:endParaRPr lang="en-US" sz="2400" dirty="0">
              <a:solidFill>
                <a:srgbClr val="EFEFEF"/>
              </a:solidFill>
              <a:latin typeface="JASO Sans Light"/>
              <a:ea typeface="JASO Sans Light"/>
              <a:cs typeface="JASO Sans Light"/>
              <a:sym typeface="JASO Sans Light"/>
            </a:endParaRPr>
          </a:p>
          <a:p>
            <a:pPr algn="ctr">
              <a:lnSpc>
                <a:spcPts val="3359"/>
              </a:lnSpc>
            </a:pPr>
            <a:r>
              <a:rPr lang="en-US" sz="2400" dirty="0" err="1">
                <a:solidFill>
                  <a:srgbClr val="EFEFEF"/>
                </a:solidFill>
                <a:latin typeface="JASO Sans Light"/>
                <a:ea typeface="JASO Sans Light"/>
                <a:cs typeface="JASO Sans Light"/>
                <a:sym typeface="JASO Sans Light"/>
              </a:rPr>
              <a:t>자산이</a:t>
            </a:r>
            <a:r>
              <a:rPr lang="en-US" sz="2400" dirty="0">
                <a:solidFill>
                  <a:srgbClr val="EFEFEF"/>
                </a:solidFill>
                <a:latin typeface="JASO Sans Light"/>
                <a:ea typeface="JASO Sans Light"/>
                <a:cs typeface="JASO Sans Light"/>
                <a:sym typeface="JASO Sans Light"/>
              </a:rPr>
              <a:t> </a:t>
            </a:r>
            <a:r>
              <a:rPr lang="en-US" sz="2400" dirty="0" err="1">
                <a:solidFill>
                  <a:srgbClr val="EFEFEF"/>
                </a:solidFill>
                <a:latin typeface="JASO Sans Light"/>
                <a:ea typeface="JASO Sans Light"/>
                <a:cs typeface="JASO Sans Light"/>
                <a:sym typeface="JASO Sans Light"/>
              </a:rPr>
              <a:t>여러</a:t>
            </a:r>
            <a:r>
              <a:rPr lang="en-US" sz="2400" dirty="0">
                <a:solidFill>
                  <a:srgbClr val="EFEFEF"/>
                </a:solidFill>
                <a:latin typeface="JASO Sans Light"/>
                <a:ea typeface="JASO Sans Light"/>
                <a:cs typeface="JASO Sans Light"/>
                <a:sym typeface="JASO Sans Light"/>
              </a:rPr>
              <a:t> </a:t>
            </a:r>
            <a:r>
              <a:rPr lang="en-US" sz="2400" dirty="0" err="1">
                <a:solidFill>
                  <a:srgbClr val="EFEFEF"/>
                </a:solidFill>
                <a:latin typeface="JASO Sans Light"/>
                <a:ea typeface="JASO Sans Light"/>
                <a:cs typeface="JASO Sans Light"/>
                <a:sym typeface="JASO Sans Light"/>
              </a:rPr>
              <a:t>플랫폼에</a:t>
            </a:r>
            <a:r>
              <a:rPr lang="en-US" sz="2400" dirty="0">
                <a:solidFill>
                  <a:srgbClr val="EFEFEF"/>
                </a:solidFill>
                <a:latin typeface="JASO Sans Light"/>
                <a:ea typeface="JASO Sans Light"/>
                <a:cs typeface="JASO Sans Light"/>
                <a:sym typeface="JASO Sans Light"/>
              </a:rPr>
              <a:t> </a:t>
            </a:r>
            <a:r>
              <a:rPr lang="en-US" sz="2400" dirty="0" err="1">
                <a:solidFill>
                  <a:srgbClr val="EFEFEF"/>
                </a:solidFill>
                <a:latin typeface="JASO Sans Light"/>
                <a:ea typeface="JASO Sans Light"/>
                <a:cs typeface="JASO Sans Light"/>
                <a:sym typeface="JASO Sans Light"/>
              </a:rPr>
              <a:t>흩어져</a:t>
            </a:r>
            <a:r>
              <a:rPr lang="en-US" sz="2400" dirty="0">
                <a:solidFill>
                  <a:srgbClr val="EFEFEF"/>
                </a:solidFill>
                <a:latin typeface="JASO Sans Light"/>
                <a:ea typeface="JASO Sans Light"/>
                <a:cs typeface="JASO Sans Light"/>
                <a:sym typeface="JASO Sans Light"/>
              </a:rPr>
              <a:t> </a:t>
            </a:r>
            <a:r>
              <a:rPr lang="en-US" sz="2400" dirty="0" err="1">
                <a:solidFill>
                  <a:srgbClr val="EFEFEF"/>
                </a:solidFill>
                <a:latin typeface="JASO Sans Light"/>
                <a:ea typeface="JASO Sans Light"/>
                <a:cs typeface="JASO Sans Light"/>
                <a:sym typeface="JASO Sans Light"/>
              </a:rPr>
              <a:t>있어서</a:t>
            </a:r>
            <a:r>
              <a:rPr lang="en-US" sz="2400" dirty="0">
                <a:solidFill>
                  <a:srgbClr val="EFEFEF"/>
                </a:solidFill>
                <a:latin typeface="JASO Sans Light"/>
                <a:ea typeface="JASO Sans Light"/>
                <a:cs typeface="JASO Sans Light"/>
                <a:sym typeface="JASO Sans Light"/>
              </a:rPr>
              <a:t> </a:t>
            </a:r>
            <a:r>
              <a:rPr lang="en-US" sz="2400" dirty="0" err="1">
                <a:solidFill>
                  <a:srgbClr val="EFEFEF"/>
                </a:solidFill>
                <a:latin typeface="JASO Sans Light"/>
                <a:ea typeface="JASO Sans Light"/>
                <a:cs typeface="JASO Sans Light"/>
                <a:sym typeface="JASO Sans Light"/>
              </a:rPr>
              <a:t>자산</a:t>
            </a:r>
            <a:r>
              <a:rPr lang="en-US" sz="2400" dirty="0">
                <a:solidFill>
                  <a:srgbClr val="EFEFEF"/>
                </a:solidFill>
                <a:latin typeface="JASO Sans Light"/>
                <a:ea typeface="JASO Sans Light"/>
                <a:cs typeface="JASO Sans Light"/>
                <a:sym typeface="JASO Sans Light"/>
              </a:rPr>
              <a:t> </a:t>
            </a:r>
            <a:r>
              <a:rPr lang="en-US" sz="2400" dirty="0" err="1">
                <a:solidFill>
                  <a:srgbClr val="EFEFEF"/>
                </a:solidFill>
                <a:latin typeface="JASO Sans Light"/>
                <a:ea typeface="JASO Sans Light"/>
                <a:cs typeface="JASO Sans Light"/>
                <a:sym typeface="JASO Sans Light"/>
              </a:rPr>
              <a:t>파악에</a:t>
            </a:r>
            <a:r>
              <a:rPr lang="en-US" sz="2400" dirty="0">
                <a:solidFill>
                  <a:srgbClr val="EFEFEF"/>
                </a:solidFill>
                <a:latin typeface="JASO Sans Light"/>
                <a:ea typeface="JASO Sans Light"/>
                <a:cs typeface="JASO Sans Light"/>
                <a:sym typeface="JASO Sans Light"/>
              </a:rPr>
              <a:t> </a:t>
            </a:r>
            <a:r>
              <a:rPr lang="en-US" sz="2400" dirty="0" err="1">
                <a:solidFill>
                  <a:srgbClr val="EFEFEF"/>
                </a:solidFill>
                <a:latin typeface="JASO Sans Light"/>
                <a:ea typeface="JASO Sans Light"/>
                <a:cs typeface="JASO Sans Light"/>
                <a:sym typeface="JASO Sans Light"/>
              </a:rPr>
              <a:t>어려움이</a:t>
            </a:r>
            <a:r>
              <a:rPr lang="en-US" sz="2400" dirty="0">
                <a:solidFill>
                  <a:srgbClr val="EFEFEF"/>
                </a:solidFill>
                <a:latin typeface="JASO Sans Light"/>
                <a:ea typeface="JASO Sans Light"/>
                <a:cs typeface="JASO Sans Light"/>
                <a:sym typeface="JASO Sans Light"/>
              </a:rPr>
              <a:t> </a:t>
            </a:r>
            <a:r>
              <a:rPr lang="en-US" sz="2400" dirty="0" err="1">
                <a:solidFill>
                  <a:srgbClr val="EFEFEF"/>
                </a:solidFill>
                <a:latin typeface="JASO Sans Light"/>
                <a:ea typeface="JASO Sans Light"/>
                <a:cs typeface="JASO Sans Light"/>
                <a:sym typeface="JASO Sans Light"/>
              </a:rPr>
              <a:t>있다</a:t>
            </a:r>
            <a:r>
              <a:rPr lang="en-US" sz="2400" dirty="0">
                <a:solidFill>
                  <a:srgbClr val="EFEFEF"/>
                </a:solidFill>
                <a:latin typeface="JASO Sans Light"/>
                <a:ea typeface="JASO Sans Light"/>
                <a:cs typeface="JASO Sans Light"/>
                <a:sym typeface="JASO Sans Light"/>
              </a:rPr>
              <a:t>.</a:t>
            </a:r>
          </a:p>
          <a:p>
            <a:pPr algn="ctr">
              <a:lnSpc>
                <a:spcPts val="3359"/>
              </a:lnSpc>
            </a:pPr>
            <a:endParaRPr lang="en-US" sz="2400" dirty="0">
              <a:solidFill>
                <a:srgbClr val="EFEFEF"/>
              </a:solidFill>
              <a:latin typeface="JASO Sans Light"/>
              <a:ea typeface="JASO Sans Light"/>
              <a:cs typeface="JASO Sans Light"/>
              <a:sym typeface="JASO Sans Light"/>
            </a:endParaRPr>
          </a:p>
          <a:p>
            <a:pPr algn="ctr">
              <a:lnSpc>
                <a:spcPts val="3359"/>
              </a:lnSpc>
            </a:pPr>
            <a:r>
              <a:rPr lang="en-US" sz="2400" dirty="0" err="1">
                <a:solidFill>
                  <a:srgbClr val="EFEFEF"/>
                </a:solidFill>
                <a:latin typeface="JASO Sans Light"/>
                <a:ea typeface="JASO Sans Light"/>
                <a:cs typeface="JASO Sans Light"/>
                <a:sym typeface="JASO Sans Light"/>
              </a:rPr>
              <a:t>세무</a:t>
            </a:r>
            <a:r>
              <a:rPr lang="en-US" sz="2400" dirty="0">
                <a:solidFill>
                  <a:srgbClr val="EFEFEF"/>
                </a:solidFill>
                <a:latin typeface="JASO Sans Light"/>
                <a:ea typeface="JASO Sans Light"/>
                <a:cs typeface="JASO Sans Light"/>
                <a:sym typeface="JASO Sans Light"/>
              </a:rPr>
              <a:t> </a:t>
            </a:r>
            <a:r>
              <a:rPr lang="en-US" sz="2400" dirty="0" err="1">
                <a:solidFill>
                  <a:srgbClr val="EFEFEF"/>
                </a:solidFill>
                <a:latin typeface="JASO Sans Light"/>
                <a:ea typeface="JASO Sans Light"/>
                <a:cs typeface="JASO Sans Light"/>
                <a:sym typeface="JASO Sans Light"/>
              </a:rPr>
              <a:t>상속과</a:t>
            </a:r>
            <a:r>
              <a:rPr lang="en-US" sz="2400" dirty="0">
                <a:solidFill>
                  <a:srgbClr val="EFEFEF"/>
                </a:solidFill>
                <a:latin typeface="JASO Sans Light"/>
                <a:ea typeface="JASO Sans Light"/>
                <a:cs typeface="JASO Sans Light"/>
                <a:sym typeface="JASO Sans Light"/>
              </a:rPr>
              <a:t> </a:t>
            </a:r>
            <a:r>
              <a:rPr lang="en-US" sz="2400" dirty="0" err="1">
                <a:solidFill>
                  <a:srgbClr val="EFEFEF"/>
                </a:solidFill>
                <a:latin typeface="JASO Sans Light"/>
                <a:ea typeface="JASO Sans Light"/>
                <a:cs typeface="JASO Sans Light"/>
                <a:sym typeface="JASO Sans Light"/>
              </a:rPr>
              <a:t>같은</a:t>
            </a:r>
            <a:r>
              <a:rPr lang="en-US" sz="2400" dirty="0">
                <a:solidFill>
                  <a:srgbClr val="EFEFEF"/>
                </a:solidFill>
                <a:latin typeface="JASO Sans Light"/>
                <a:ea typeface="JASO Sans Light"/>
                <a:cs typeface="JASO Sans Light"/>
                <a:sym typeface="JASO Sans Light"/>
              </a:rPr>
              <a:t> </a:t>
            </a:r>
            <a:r>
              <a:rPr lang="en-US" sz="2400" dirty="0" err="1">
                <a:solidFill>
                  <a:srgbClr val="EFEFEF"/>
                </a:solidFill>
                <a:latin typeface="JASO Sans Light"/>
                <a:ea typeface="JASO Sans Light"/>
                <a:cs typeface="JASO Sans Light"/>
                <a:sym typeface="JASO Sans Light"/>
              </a:rPr>
              <a:t>법적인</a:t>
            </a:r>
            <a:r>
              <a:rPr lang="en-US" sz="2400" dirty="0">
                <a:solidFill>
                  <a:srgbClr val="EFEFEF"/>
                </a:solidFill>
                <a:latin typeface="JASO Sans Light"/>
                <a:ea typeface="JASO Sans Light"/>
                <a:cs typeface="JASO Sans Light"/>
                <a:sym typeface="JASO Sans Light"/>
              </a:rPr>
              <a:t> </a:t>
            </a:r>
            <a:r>
              <a:rPr lang="en-US" sz="2400" dirty="0" err="1">
                <a:solidFill>
                  <a:srgbClr val="EFEFEF"/>
                </a:solidFill>
                <a:latin typeface="JASO Sans Light"/>
                <a:ea typeface="JASO Sans Light"/>
                <a:cs typeface="JASO Sans Light"/>
                <a:sym typeface="JASO Sans Light"/>
              </a:rPr>
              <a:t>문제에서</a:t>
            </a:r>
            <a:r>
              <a:rPr lang="en-US" sz="2400" dirty="0">
                <a:solidFill>
                  <a:srgbClr val="EFEFEF"/>
                </a:solidFill>
                <a:latin typeface="JASO Sans Light"/>
                <a:ea typeface="JASO Sans Light"/>
                <a:cs typeface="JASO Sans Light"/>
                <a:sym typeface="JASO Sans Light"/>
              </a:rPr>
              <a:t> </a:t>
            </a:r>
            <a:r>
              <a:rPr lang="en-US" sz="2400" dirty="0" err="1">
                <a:solidFill>
                  <a:srgbClr val="EFEFEF"/>
                </a:solidFill>
                <a:latin typeface="JASO Sans Light"/>
                <a:ea typeface="JASO Sans Light"/>
                <a:cs typeface="JASO Sans Light"/>
                <a:sym typeface="JASO Sans Light"/>
              </a:rPr>
              <a:t>관리가</a:t>
            </a:r>
            <a:r>
              <a:rPr lang="en-US" sz="2400" dirty="0">
                <a:solidFill>
                  <a:srgbClr val="EFEFEF"/>
                </a:solidFill>
                <a:latin typeface="JASO Sans Light"/>
                <a:ea typeface="JASO Sans Light"/>
                <a:cs typeface="JASO Sans Light"/>
                <a:sym typeface="JASO Sans Light"/>
              </a:rPr>
              <a:t> </a:t>
            </a:r>
            <a:r>
              <a:rPr lang="en-US" sz="2400" dirty="0" err="1">
                <a:solidFill>
                  <a:srgbClr val="EFEFEF"/>
                </a:solidFill>
                <a:latin typeface="JASO Sans Light"/>
                <a:ea typeface="JASO Sans Light"/>
                <a:cs typeface="JASO Sans Light"/>
                <a:sym typeface="JASO Sans Light"/>
              </a:rPr>
              <a:t>어렵다</a:t>
            </a:r>
            <a:r>
              <a:rPr lang="en-US" sz="2400" dirty="0">
                <a:solidFill>
                  <a:srgbClr val="EFEFEF"/>
                </a:solidFill>
                <a:latin typeface="JASO Sans Light"/>
                <a:ea typeface="JASO Sans Light"/>
                <a:cs typeface="JASO Sans Light"/>
                <a:sym typeface="JASO Sans Light"/>
              </a:rPr>
              <a:t>.</a:t>
            </a:r>
          </a:p>
          <a:p>
            <a:pPr algn="ctr">
              <a:lnSpc>
                <a:spcPts val="3359"/>
              </a:lnSpc>
            </a:pPr>
            <a:endParaRPr lang="en-US" sz="2400" dirty="0">
              <a:solidFill>
                <a:srgbClr val="EFEFEF"/>
              </a:solidFill>
              <a:latin typeface="JASO Sans Light"/>
              <a:ea typeface="JASO Sans Light"/>
              <a:cs typeface="JASO Sans Light"/>
              <a:sym typeface="JASO Sans Light"/>
            </a:endParaRPr>
          </a:p>
          <a:p>
            <a:pPr algn="ctr">
              <a:lnSpc>
                <a:spcPts val="3359"/>
              </a:lnSpc>
              <a:spcBef>
                <a:spcPct val="0"/>
              </a:spcBef>
            </a:pPr>
            <a:r>
              <a:rPr lang="en-US" sz="2400" dirty="0" err="1">
                <a:solidFill>
                  <a:srgbClr val="EFEFEF"/>
                </a:solidFill>
                <a:latin typeface="JASO Sans Light"/>
                <a:ea typeface="JASO Sans Light"/>
                <a:cs typeface="JASO Sans Light"/>
                <a:sym typeface="JASO Sans Light"/>
              </a:rPr>
              <a:t>기술적으로</a:t>
            </a:r>
            <a:r>
              <a:rPr lang="en-US" sz="2400" dirty="0">
                <a:solidFill>
                  <a:srgbClr val="EFEFEF"/>
                </a:solidFill>
                <a:latin typeface="JASO Sans Light"/>
                <a:ea typeface="JASO Sans Light"/>
                <a:cs typeface="JASO Sans Light"/>
                <a:sym typeface="JASO Sans Light"/>
              </a:rPr>
              <a:t> </a:t>
            </a:r>
            <a:r>
              <a:rPr lang="en-US" sz="2400" dirty="0" err="1">
                <a:solidFill>
                  <a:srgbClr val="EFEFEF"/>
                </a:solidFill>
                <a:latin typeface="JASO Sans Light"/>
                <a:ea typeface="JASO Sans Light"/>
                <a:cs typeface="JASO Sans Light"/>
                <a:sym typeface="JASO Sans Light"/>
              </a:rPr>
              <a:t>불안하고</a:t>
            </a:r>
            <a:r>
              <a:rPr lang="en-US" sz="2400" dirty="0">
                <a:solidFill>
                  <a:srgbClr val="EFEFEF"/>
                </a:solidFill>
                <a:latin typeface="JASO Sans Light"/>
                <a:ea typeface="JASO Sans Light"/>
                <a:cs typeface="JASO Sans Light"/>
                <a:sym typeface="JASO Sans Light"/>
              </a:rPr>
              <a:t> </a:t>
            </a:r>
            <a:r>
              <a:rPr lang="en-US" sz="2400" dirty="0" err="1">
                <a:solidFill>
                  <a:srgbClr val="EFEFEF"/>
                </a:solidFill>
                <a:latin typeface="JASO Sans Light"/>
                <a:ea typeface="JASO Sans Light"/>
                <a:cs typeface="JASO Sans Light"/>
                <a:sym typeface="JASO Sans Light"/>
              </a:rPr>
              <a:t>신뢰가</a:t>
            </a:r>
            <a:r>
              <a:rPr lang="en-US" sz="2400" dirty="0">
                <a:solidFill>
                  <a:srgbClr val="EFEFEF"/>
                </a:solidFill>
                <a:latin typeface="JASO Sans Light"/>
                <a:ea typeface="JASO Sans Light"/>
                <a:cs typeface="JASO Sans Light"/>
                <a:sym typeface="JASO Sans Light"/>
              </a:rPr>
              <a:t> </a:t>
            </a:r>
            <a:r>
              <a:rPr lang="en-US" sz="2400" dirty="0" err="1">
                <a:solidFill>
                  <a:srgbClr val="EFEFEF"/>
                </a:solidFill>
                <a:latin typeface="JASO Sans Light"/>
                <a:ea typeface="JASO Sans Light"/>
                <a:cs typeface="JASO Sans Light"/>
                <a:sym typeface="JASO Sans Light"/>
              </a:rPr>
              <a:t>어려우며</a:t>
            </a:r>
            <a:r>
              <a:rPr lang="en-US" sz="2400" dirty="0">
                <a:solidFill>
                  <a:srgbClr val="EFEFEF"/>
                </a:solidFill>
                <a:latin typeface="JASO Sans Light"/>
                <a:ea typeface="JASO Sans Light"/>
                <a:cs typeface="JASO Sans Light"/>
                <a:sym typeface="JASO Sans Light"/>
              </a:rPr>
              <a:t> </a:t>
            </a:r>
            <a:r>
              <a:rPr lang="en-US" sz="2400" dirty="0" err="1">
                <a:solidFill>
                  <a:srgbClr val="EFEFEF"/>
                </a:solidFill>
                <a:latin typeface="JASO Sans Light"/>
                <a:ea typeface="JASO Sans Light"/>
                <a:cs typeface="JASO Sans Light"/>
                <a:sym typeface="JASO Sans Light"/>
              </a:rPr>
              <a:t>정보를</a:t>
            </a:r>
            <a:r>
              <a:rPr lang="en-US" sz="2400" dirty="0">
                <a:solidFill>
                  <a:srgbClr val="EFEFEF"/>
                </a:solidFill>
                <a:latin typeface="JASO Sans Light"/>
                <a:ea typeface="JASO Sans Light"/>
                <a:cs typeface="JASO Sans Light"/>
                <a:sym typeface="JASO Sans Light"/>
              </a:rPr>
              <a:t> </a:t>
            </a:r>
            <a:r>
              <a:rPr lang="en-US" sz="2400" dirty="0" err="1">
                <a:solidFill>
                  <a:srgbClr val="EFEFEF"/>
                </a:solidFill>
                <a:latin typeface="JASO Sans Light"/>
                <a:ea typeface="JASO Sans Light"/>
                <a:cs typeface="JASO Sans Light"/>
                <a:sym typeface="JASO Sans Light"/>
              </a:rPr>
              <a:t>얻기</a:t>
            </a:r>
            <a:r>
              <a:rPr lang="en-US" sz="2400" dirty="0">
                <a:solidFill>
                  <a:srgbClr val="EFEFEF"/>
                </a:solidFill>
                <a:latin typeface="JASO Sans Light"/>
                <a:ea typeface="JASO Sans Light"/>
                <a:cs typeface="JASO Sans Light"/>
                <a:sym typeface="JASO Sans Light"/>
              </a:rPr>
              <a:t> </a:t>
            </a:r>
            <a:r>
              <a:rPr lang="en-US" sz="2400" dirty="0" err="1">
                <a:solidFill>
                  <a:srgbClr val="EFEFEF"/>
                </a:solidFill>
                <a:latin typeface="JASO Sans Light"/>
                <a:ea typeface="JASO Sans Light"/>
                <a:cs typeface="JASO Sans Light"/>
                <a:sym typeface="JASO Sans Light"/>
              </a:rPr>
              <a:t>너무</a:t>
            </a:r>
            <a:r>
              <a:rPr lang="en-US" sz="2400" dirty="0">
                <a:solidFill>
                  <a:srgbClr val="EFEFEF"/>
                </a:solidFill>
                <a:latin typeface="JASO Sans Light"/>
                <a:ea typeface="JASO Sans Light"/>
                <a:cs typeface="JASO Sans Light"/>
                <a:sym typeface="JASO Sans Light"/>
              </a:rPr>
              <a:t> </a:t>
            </a:r>
            <a:r>
              <a:rPr lang="en-US" sz="2400" dirty="0" err="1">
                <a:solidFill>
                  <a:srgbClr val="EFEFEF"/>
                </a:solidFill>
                <a:latin typeface="JASO Sans Light"/>
                <a:ea typeface="JASO Sans Light"/>
                <a:cs typeface="JASO Sans Light"/>
                <a:sym typeface="JASO Sans Light"/>
              </a:rPr>
              <a:t>어렵다</a:t>
            </a:r>
            <a:r>
              <a:rPr lang="en-US" sz="2400" dirty="0">
                <a:solidFill>
                  <a:srgbClr val="EFEFEF"/>
                </a:solidFill>
                <a:latin typeface="JASO Sans Light"/>
                <a:ea typeface="JASO Sans Light"/>
                <a:cs typeface="JASO Sans Light"/>
                <a:sym typeface="JASO Sans Light"/>
              </a:rPr>
              <a:t>.</a:t>
            </a:r>
          </a:p>
        </p:txBody>
      </p:sp>
      <p:sp>
        <p:nvSpPr>
          <p:cNvPr id="3" name="TextBox 3"/>
          <p:cNvSpPr txBox="1"/>
          <p:nvPr/>
        </p:nvSpPr>
        <p:spPr>
          <a:xfrm>
            <a:off x="7468017" y="537527"/>
            <a:ext cx="3351967" cy="88709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7279"/>
              </a:lnSpc>
            </a:pPr>
            <a:r>
              <a:rPr lang="en-US" sz="5199" b="1">
                <a:solidFill>
                  <a:srgbClr val="EFEFEF"/>
                </a:solidFill>
                <a:latin typeface="Noto Sans Kr Bold"/>
                <a:ea typeface="Noto Sans Kr Bold"/>
                <a:cs typeface="Noto Sans Kr Bold"/>
                <a:sym typeface="Noto Sans Kr Bold"/>
              </a:rPr>
              <a:t>pain point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B2B2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1028700" y="5166884"/>
            <a:ext cx="3666857" cy="4075892"/>
            <a:chOff x="0" y="0"/>
            <a:chExt cx="965756" cy="1073486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965756" cy="1073486"/>
            </a:xfrm>
            <a:custGeom>
              <a:avLst/>
              <a:gdLst/>
              <a:ahLst/>
              <a:cxnLst/>
              <a:rect l="l" t="t" r="r" b="b"/>
              <a:pathLst>
                <a:path w="965756" h="1073486">
                  <a:moveTo>
                    <a:pt x="0" y="0"/>
                  </a:moveTo>
                  <a:lnTo>
                    <a:pt x="965756" y="0"/>
                  </a:lnTo>
                  <a:lnTo>
                    <a:pt x="965756" y="1073486"/>
                  </a:lnTo>
                  <a:lnTo>
                    <a:pt x="0" y="1073486"/>
                  </a:lnTo>
                  <a:close/>
                </a:path>
              </a:pathLst>
            </a:custGeom>
            <a:solidFill>
              <a:srgbClr val="EFEFEF"/>
            </a:solidFill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0" y="-47625"/>
              <a:ext cx="965756" cy="1121111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404"/>
                </a:lnSpc>
              </a:pPr>
              <a:endParaRPr/>
            </a:p>
          </p:txBody>
        </p:sp>
      </p:grpSp>
      <p:grpSp>
        <p:nvGrpSpPr>
          <p:cNvPr id="5" name="Group 5"/>
          <p:cNvGrpSpPr/>
          <p:nvPr/>
        </p:nvGrpSpPr>
        <p:grpSpPr>
          <a:xfrm>
            <a:off x="5232272" y="5166884"/>
            <a:ext cx="3666857" cy="4075892"/>
            <a:chOff x="0" y="0"/>
            <a:chExt cx="965756" cy="1073486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965756" cy="1073486"/>
            </a:xfrm>
            <a:custGeom>
              <a:avLst/>
              <a:gdLst/>
              <a:ahLst/>
              <a:cxnLst/>
              <a:rect l="l" t="t" r="r" b="b"/>
              <a:pathLst>
                <a:path w="965756" h="1073486">
                  <a:moveTo>
                    <a:pt x="0" y="0"/>
                  </a:moveTo>
                  <a:lnTo>
                    <a:pt x="965756" y="0"/>
                  </a:lnTo>
                  <a:lnTo>
                    <a:pt x="965756" y="1073486"/>
                  </a:lnTo>
                  <a:lnTo>
                    <a:pt x="0" y="1073486"/>
                  </a:lnTo>
                  <a:close/>
                </a:path>
              </a:pathLst>
            </a:custGeom>
            <a:solidFill>
              <a:srgbClr val="EFEFEF"/>
            </a:solidFill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0" y="-47625"/>
              <a:ext cx="965756" cy="1121111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404"/>
                </a:lnSpc>
              </a:pPr>
              <a:endParaRPr/>
            </a:p>
          </p:txBody>
        </p:sp>
      </p:grpSp>
      <p:sp>
        <p:nvSpPr>
          <p:cNvPr id="8" name="TextBox 8"/>
          <p:cNvSpPr txBox="1"/>
          <p:nvPr/>
        </p:nvSpPr>
        <p:spPr>
          <a:xfrm>
            <a:off x="7810500" y="1257300"/>
            <a:ext cx="2667000" cy="66992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5599"/>
              </a:lnSpc>
              <a:spcBef>
                <a:spcPct val="0"/>
              </a:spcBef>
            </a:pPr>
            <a:r>
              <a:rPr lang="en-US" sz="3999" b="1" dirty="0">
                <a:solidFill>
                  <a:srgbClr val="EFEFEF"/>
                </a:solidFill>
                <a:latin typeface="Montserrat Semi-Bold"/>
                <a:ea typeface="Montserrat Semi-Bold"/>
                <a:cs typeface="Montserrat Semi-Bold"/>
                <a:sym typeface="Montserrat Semi-Bold"/>
              </a:rPr>
              <a:t>Process</a:t>
            </a:r>
          </a:p>
        </p:txBody>
      </p:sp>
      <p:grpSp>
        <p:nvGrpSpPr>
          <p:cNvPr id="9" name="Group 9"/>
          <p:cNvGrpSpPr/>
          <p:nvPr/>
        </p:nvGrpSpPr>
        <p:grpSpPr>
          <a:xfrm>
            <a:off x="9435843" y="5166884"/>
            <a:ext cx="3666857" cy="4075892"/>
            <a:chOff x="0" y="0"/>
            <a:chExt cx="965756" cy="1073486"/>
          </a:xfrm>
        </p:grpSpPr>
        <p:sp>
          <p:nvSpPr>
            <p:cNvPr id="10" name="Freeform 10"/>
            <p:cNvSpPr/>
            <p:nvPr/>
          </p:nvSpPr>
          <p:spPr>
            <a:xfrm>
              <a:off x="0" y="0"/>
              <a:ext cx="965756" cy="1073486"/>
            </a:xfrm>
            <a:custGeom>
              <a:avLst/>
              <a:gdLst/>
              <a:ahLst/>
              <a:cxnLst/>
              <a:rect l="l" t="t" r="r" b="b"/>
              <a:pathLst>
                <a:path w="965756" h="1073486">
                  <a:moveTo>
                    <a:pt x="0" y="0"/>
                  </a:moveTo>
                  <a:lnTo>
                    <a:pt x="965756" y="0"/>
                  </a:lnTo>
                  <a:lnTo>
                    <a:pt x="965756" y="1073486"/>
                  </a:lnTo>
                  <a:lnTo>
                    <a:pt x="0" y="1073486"/>
                  </a:lnTo>
                  <a:close/>
                </a:path>
              </a:pathLst>
            </a:custGeom>
            <a:solidFill>
              <a:srgbClr val="EFEFEF"/>
            </a:solidFill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0" y="-47625"/>
              <a:ext cx="965756" cy="1121111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404"/>
                </a:lnSpc>
              </a:pPr>
              <a:endParaRPr/>
            </a:p>
          </p:txBody>
        </p:sp>
      </p:grpSp>
      <p:grpSp>
        <p:nvGrpSpPr>
          <p:cNvPr id="12" name="Group 12"/>
          <p:cNvGrpSpPr/>
          <p:nvPr/>
        </p:nvGrpSpPr>
        <p:grpSpPr>
          <a:xfrm>
            <a:off x="13639415" y="5166884"/>
            <a:ext cx="3666857" cy="4075892"/>
            <a:chOff x="0" y="0"/>
            <a:chExt cx="965756" cy="1073486"/>
          </a:xfrm>
        </p:grpSpPr>
        <p:sp>
          <p:nvSpPr>
            <p:cNvPr id="13" name="Freeform 13"/>
            <p:cNvSpPr/>
            <p:nvPr/>
          </p:nvSpPr>
          <p:spPr>
            <a:xfrm>
              <a:off x="0" y="0"/>
              <a:ext cx="965756" cy="1073486"/>
            </a:xfrm>
            <a:custGeom>
              <a:avLst/>
              <a:gdLst/>
              <a:ahLst/>
              <a:cxnLst/>
              <a:rect l="l" t="t" r="r" b="b"/>
              <a:pathLst>
                <a:path w="965756" h="1073486">
                  <a:moveTo>
                    <a:pt x="0" y="0"/>
                  </a:moveTo>
                  <a:lnTo>
                    <a:pt x="965756" y="0"/>
                  </a:lnTo>
                  <a:lnTo>
                    <a:pt x="965756" y="1073486"/>
                  </a:lnTo>
                  <a:lnTo>
                    <a:pt x="0" y="1073486"/>
                  </a:lnTo>
                  <a:close/>
                </a:path>
              </a:pathLst>
            </a:custGeom>
            <a:solidFill>
              <a:srgbClr val="EFEFEF"/>
            </a:solidFill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0" y="-47625"/>
              <a:ext cx="965756" cy="1121111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404"/>
                </a:lnSpc>
              </a:pPr>
              <a:endParaRPr/>
            </a:p>
          </p:txBody>
        </p:sp>
      </p:grpSp>
      <p:sp>
        <p:nvSpPr>
          <p:cNvPr id="15" name="TextBox 15"/>
          <p:cNvSpPr txBox="1"/>
          <p:nvPr/>
        </p:nvSpPr>
        <p:spPr>
          <a:xfrm>
            <a:off x="2353471" y="5829585"/>
            <a:ext cx="743783" cy="58293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800"/>
              </a:lnSpc>
            </a:pPr>
            <a:r>
              <a:rPr lang="en-US" sz="3200" b="1">
                <a:solidFill>
                  <a:srgbClr val="2B2B2B"/>
                </a:solidFill>
                <a:latin typeface="JASO Sans Bold"/>
                <a:ea typeface="JASO Sans Bold"/>
                <a:cs typeface="JASO Sans Bold"/>
                <a:sym typeface="JASO Sans Bold"/>
              </a:rPr>
              <a:t>수탁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6693808" y="5829585"/>
            <a:ext cx="743783" cy="58293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800"/>
              </a:lnSpc>
            </a:pPr>
            <a:r>
              <a:rPr lang="en-US" sz="3200" b="1">
                <a:solidFill>
                  <a:srgbClr val="2B2B2B"/>
                </a:solidFill>
                <a:latin typeface="JASO Sans Bold"/>
                <a:ea typeface="JASO Sans Bold"/>
                <a:cs typeface="JASO Sans Bold"/>
                <a:sym typeface="JASO Sans Bold"/>
              </a:rPr>
              <a:t>관리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1483657" y="6736034"/>
            <a:ext cx="2756943" cy="145351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399"/>
              </a:lnSpc>
            </a:pPr>
            <a:r>
              <a:rPr lang="en-US" sz="1599">
                <a:solidFill>
                  <a:srgbClr val="2B2B2B"/>
                </a:solidFill>
                <a:latin typeface="JASO Sans Light"/>
                <a:ea typeface="JASO Sans Light"/>
                <a:cs typeface="JASO Sans Light"/>
                <a:sym typeface="JASO Sans Light"/>
              </a:rPr>
              <a:t>가스비,커스터디 서비스 신청, 자산 거래 신청, 현물 가상화폐 자산</a:t>
            </a:r>
          </a:p>
          <a:p>
            <a:pPr algn="l">
              <a:lnSpc>
                <a:spcPts val="2399"/>
              </a:lnSpc>
            </a:pPr>
            <a:r>
              <a:rPr lang="en-US" sz="1599">
                <a:solidFill>
                  <a:srgbClr val="2B2B2B"/>
                </a:solidFill>
                <a:latin typeface="JASO Sans Light"/>
                <a:ea typeface="JASO Sans Light"/>
                <a:cs typeface="JASO Sans Light"/>
                <a:sym typeface="JASO Sans Light"/>
              </a:rPr>
              <a:t>STO자산 등 개인이 직접 거래하기 힘들었던 자산을 커스터디 서비스가 수탁업무를 대신합니다. 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5687228" y="6736034"/>
            <a:ext cx="2756943" cy="115824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399"/>
              </a:lnSpc>
            </a:pPr>
            <a:r>
              <a:rPr lang="en-US" sz="1599">
                <a:solidFill>
                  <a:srgbClr val="2B2B2B"/>
                </a:solidFill>
                <a:latin typeface="JASO Sans Light"/>
                <a:ea typeface="JASO Sans Light"/>
                <a:cs typeface="JASO Sans Light"/>
                <a:sym typeface="JASO Sans Light"/>
              </a:rPr>
              <a:t>흩어져있는 가상화폐 자산들을 커스터디 서비스에서 한눈에 바라볼 수 있도록 보조해줍니다. </a:t>
            </a:r>
          </a:p>
          <a:p>
            <a:pPr algn="l">
              <a:lnSpc>
                <a:spcPts val="2399"/>
              </a:lnSpc>
            </a:pPr>
            <a:endParaRPr lang="en-US" sz="1599">
              <a:solidFill>
                <a:srgbClr val="2B2B2B"/>
              </a:solidFill>
              <a:latin typeface="JASO Sans Light"/>
              <a:ea typeface="JASO Sans Light"/>
              <a:cs typeface="JASO Sans Light"/>
              <a:sym typeface="JASO Sans Light"/>
            </a:endParaRPr>
          </a:p>
        </p:txBody>
      </p:sp>
      <p:sp>
        <p:nvSpPr>
          <p:cNvPr id="19" name="TextBox 19"/>
          <p:cNvSpPr txBox="1"/>
          <p:nvPr/>
        </p:nvSpPr>
        <p:spPr>
          <a:xfrm>
            <a:off x="747093" y="3659550"/>
            <a:ext cx="3952043" cy="1337226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11399"/>
              </a:lnSpc>
            </a:pPr>
            <a:r>
              <a:rPr lang="en-US" sz="7599" b="1">
                <a:solidFill>
                  <a:srgbClr val="EFEFEF"/>
                </a:solidFill>
                <a:latin typeface="Montserrat Semi-Bold"/>
                <a:ea typeface="Montserrat Semi-Bold"/>
                <a:cs typeface="Montserrat Semi-Bold"/>
                <a:sym typeface="Montserrat Semi-Bold"/>
              </a:rPr>
              <a:t>01</a:t>
            </a:r>
          </a:p>
        </p:txBody>
      </p:sp>
      <p:sp>
        <p:nvSpPr>
          <p:cNvPr id="20" name="TextBox 20"/>
          <p:cNvSpPr txBox="1"/>
          <p:nvPr/>
        </p:nvSpPr>
        <p:spPr>
          <a:xfrm>
            <a:off x="6460044" y="3659550"/>
            <a:ext cx="1211312" cy="135826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1399"/>
              </a:lnSpc>
            </a:pPr>
            <a:r>
              <a:rPr lang="en-US" sz="7599" b="1">
                <a:solidFill>
                  <a:srgbClr val="EFEFEF"/>
                </a:solidFill>
                <a:latin typeface="Montserrat Semi-Bold"/>
                <a:ea typeface="Montserrat Semi-Bold"/>
                <a:cs typeface="Montserrat Semi-Bold"/>
                <a:sym typeface="Montserrat Semi-Bold"/>
              </a:rPr>
              <a:t>02</a:t>
            </a:r>
          </a:p>
        </p:txBody>
      </p:sp>
      <p:sp>
        <p:nvSpPr>
          <p:cNvPr id="21" name="TextBox 21"/>
          <p:cNvSpPr txBox="1"/>
          <p:nvPr/>
        </p:nvSpPr>
        <p:spPr>
          <a:xfrm>
            <a:off x="10663616" y="3659550"/>
            <a:ext cx="1211312" cy="135826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1399"/>
              </a:lnSpc>
            </a:pPr>
            <a:r>
              <a:rPr lang="en-US" sz="7599" b="1">
                <a:solidFill>
                  <a:srgbClr val="EFEFEF"/>
                </a:solidFill>
                <a:latin typeface="Montserrat Semi-Bold"/>
                <a:ea typeface="Montserrat Semi-Bold"/>
                <a:cs typeface="Montserrat Semi-Bold"/>
                <a:sym typeface="Montserrat Semi-Bold"/>
              </a:rPr>
              <a:t>03</a:t>
            </a:r>
          </a:p>
        </p:txBody>
      </p:sp>
      <p:sp>
        <p:nvSpPr>
          <p:cNvPr id="22" name="TextBox 22"/>
          <p:cNvSpPr txBox="1"/>
          <p:nvPr/>
        </p:nvSpPr>
        <p:spPr>
          <a:xfrm>
            <a:off x="14820381" y="3659550"/>
            <a:ext cx="1304925" cy="135826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1399"/>
              </a:lnSpc>
            </a:pPr>
            <a:r>
              <a:rPr lang="en-US" sz="7599" b="1">
                <a:solidFill>
                  <a:srgbClr val="EFEFEF"/>
                </a:solidFill>
                <a:latin typeface="Montserrat Semi-Bold"/>
                <a:ea typeface="Montserrat Semi-Bold"/>
                <a:cs typeface="Montserrat Semi-Bold"/>
                <a:sym typeface="Montserrat Semi-Bold"/>
              </a:rPr>
              <a:t>04</a:t>
            </a:r>
          </a:p>
        </p:txBody>
      </p:sp>
      <p:sp>
        <p:nvSpPr>
          <p:cNvPr id="23" name="TextBox 23"/>
          <p:cNvSpPr txBox="1"/>
          <p:nvPr/>
        </p:nvSpPr>
        <p:spPr>
          <a:xfrm>
            <a:off x="10897425" y="5829585"/>
            <a:ext cx="743783" cy="58293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800"/>
              </a:lnSpc>
            </a:pPr>
            <a:r>
              <a:rPr lang="en-US" sz="3200" b="1">
                <a:solidFill>
                  <a:srgbClr val="2B2B2B"/>
                </a:solidFill>
                <a:latin typeface="JASO Sans Bold"/>
                <a:ea typeface="JASO Sans Bold"/>
                <a:cs typeface="JASO Sans Bold"/>
                <a:sym typeface="JASO Sans Bold"/>
              </a:rPr>
              <a:t>세무</a:t>
            </a:r>
          </a:p>
        </p:txBody>
      </p:sp>
      <p:sp>
        <p:nvSpPr>
          <p:cNvPr id="24" name="TextBox 24"/>
          <p:cNvSpPr txBox="1"/>
          <p:nvPr/>
        </p:nvSpPr>
        <p:spPr>
          <a:xfrm>
            <a:off x="9890800" y="6736034"/>
            <a:ext cx="2756943" cy="86296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399"/>
              </a:lnSpc>
            </a:pPr>
            <a:r>
              <a:rPr lang="en-US" sz="1599">
                <a:solidFill>
                  <a:srgbClr val="2B2B2B"/>
                </a:solidFill>
                <a:latin typeface="JASO Sans Light"/>
                <a:ea typeface="JASO Sans Light"/>
                <a:cs typeface="JASO Sans Light"/>
                <a:sym typeface="JASO Sans Light"/>
              </a:rPr>
              <a:t>복잡하고 정보를 얻기 어려운 가상화폐 자산 세금 관리 한번에 관리! </a:t>
            </a:r>
          </a:p>
        </p:txBody>
      </p:sp>
      <p:sp>
        <p:nvSpPr>
          <p:cNvPr id="25" name="TextBox 25"/>
          <p:cNvSpPr txBox="1"/>
          <p:nvPr/>
        </p:nvSpPr>
        <p:spPr>
          <a:xfrm>
            <a:off x="15100952" y="5829585"/>
            <a:ext cx="743783" cy="58293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800"/>
              </a:lnSpc>
            </a:pPr>
            <a:r>
              <a:rPr lang="en-US" sz="3200" b="1">
                <a:solidFill>
                  <a:srgbClr val="2B2B2B"/>
                </a:solidFill>
                <a:latin typeface="JASO Sans Bold"/>
                <a:ea typeface="JASO Sans Bold"/>
                <a:cs typeface="JASO Sans Bold"/>
                <a:sym typeface="JASO Sans Bold"/>
              </a:rPr>
              <a:t>상속</a:t>
            </a:r>
          </a:p>
        </p:txBody>
      </p:sp>
      <p:sp>
        <p:nvSpPr>
          <p:cNvPr id="26" name="TextBox 26"/>
          <p:cNvSpPr txBox="1"/>
          <p:nvPr/>
        </p:nvSpPr>
        <p:spPr>
          <a:xfrm>
            <a:off x="14094372" y="6736034"/>
            <a:ext cx="2756943" cy="115824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399"/>
              </a:lnSpc>
            </a:pPr>
            <a:r>
              <a:rPr lang="en-US" sz="1599">
                <a:solidFill>
                  <a:srgbClr val="2B2B2B"/>
                </a:solidFill>
                <a:latin typeface="JASO Sans"/>
                <a:ea typeface="JASO Sans"/>
                <a:cs typeface="JASO Sans"/>
                <a:sym typeface="JASO Sans"/>
              </a:rPr>
              <a:t>막막한 상속세 계산 및 공증인 선임 커스터디 서비스에서 한번에 처리할 수 있습니다.</a:t>
            </a:r>
          </a:p>
          <a:p>
            <a:pPr algn="l">
              <a:lnSpc>
                <a:spcPts val="2399"/>
              </a:lnSpc>
            </a:pPr>
            <a:endParaRPr lang="en-US" sz="1599">
              <a:solidFill>
                <a:srgbClr val="2B2B2B"/>
              </a:solidFill>
              <a:latin typeface="JASO Sans"/>
              <a:ea typeface="JASO Sans"/>
              <a:cs typeface="JASO Sans"/>
              <a:sym typeface="JASO Sans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B2B2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6485055" y="0"/>
            <a:ext cx="11802945" cy="10287000"/>
            <a:chOff x="0" y="0"/>
            <a:chExt cx="1828585" cy="1593725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1828585" cy="1593725"/>
            </a:xfrm>
            <a:custGeom>
              <a:avLst/>
              <a:gdLst/>
              <a:ahLst/>
              <a:cxnLst/>
              <a:rect l="l" t="t" r="r" b="b"/>
              <a:pathLst>
                <a:path w="1828585" h="1593725">
                  <a:moveTo>
                    <a:pt x="0" y="0"/>
                  </a:moveTo>
                  <a:lnTo>
                    <a:pt x="1828585" y="0"/>
                  </a:lnTo>
                  <a:lnTo>
                    <a:pt x="1828585" y="1593725"/>
                  </a:lnTo>
                  <a:lnTo>
                    <a:pt x="0" y="1593725"/>
                  </a:lnTo>
                  <a:close/>
                </a:path>
              </a:pathLst>
            </a:custGeom>
            <a:blipFill>
              <a:blip r:embed="rId2"/>
              <a:stretch>
                <a:fillRect l="-15408" r="-15408"/>
              </a:stretch>
            </a:blipFill>
          </p:spPr>
          <p:txBody>
            <a:bodyPr/>
            <a:lstStyle/>
            <a:p>
              <a:endParaRPr lang="ko-KR" altLang="en-US"/>
            </a:p>
          </p:txBody>
        </p:sp>
      </p:grpSp>
      <p:sp>
        <p:nvSpPr>
          <p:cNvPr id="4" name="TextBox 4"/>
          <p:cNvSpPr txBox="1"/>
          <p:nvPr/>
        </p:nvSpPr>
        <p:spPr>
          <a:xfrm>
            <a:off x="1028700" y="847725"/>
            <a:ext cx="1409700" cy="66992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5599"/>
              </a:lnSpc>
              <a:spcBef>
                <a:spcPct val="0"/>
              </a:spcBef>
            </a:pPr>
            <a:r>
              <a:rPr lang="en-US" sz="3999" b="1" dirty="0" err="1">
                <a:solidFill>
                  <a:srgbClr val="EFEFEF"/>
                </a:solidFill>
                <a:latin typeface="Montserrat Semi-Bold"/>
                <a:ea typeface="Montserrat Semi-Bold"/>
                <a:cs typeface="Montserrat Semi-Bold"/>
                <a:sym typeface="Montserrat Semi-Bold"/>
              </a:rPr>
              <a:t>수탁</a:t>
            </a:r>
            <a:endParaRPr lang="en-US" sz="3999" b="1" dirty="0">
              <a:solidFill>
                <a:srgbClr val="EFEFEF"/>
              </a:solidFill>
              <a:latin typeface="Montserrat Semi-Bold"/>
              <a:ea typeface="Montserrat Semi-Bold"/>
              <a:cs typeface="Montserrat Semi-Bold"/>
              <a:sym typeface="Montserrat Semi-Bold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B2B2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6485055" y="0"/>
            <a:ext cx="11802945" cy="10287000"/>
            <a:chOff x="0" y="0"/>
            <a:chExt cx="1828585" cy="1593725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1828585" cy="1593725"/>
            </a:xfrm>
            <a:custGeom>
              <a:avLst/>
              <a:gdLst/>
              <a:ahLst/>
              <a:cxnLst/>
              <a:rect l="l" t="t" r="r" b="b"/>
              <a:pathLst>
                <a:path w="1828585" h="1593725">
                  <a:moveTo>
                    <a:pt x="0" y="0"/>
                  </a:moveTo>
                  <a:lnTo>
                    <a:pt x="1828585" y="0"/>
                  </a:lnTo>
                  <a:lnTo>
                    <a:pt x="1828585" y="1593725"/>
                  </a:lnTo>
                  <a:lnTo>
                    <a:pt x="0" y="1593725"/>
                  </a:lnTo>
                  <a:close/>
                </a:path>
              </a:pathLst>
            </a:custGeom>
            <a:blipFill>
              <a:blip r:embed="rId2"/>
              <a:stretch>
                <a:fillRect l="-15408" r="-15408"/>
              </a:stretch>
            </a:blipFill>
          </p:spPr>
          <p:txBody>
            <a:bodyPr/>
            <a:lstStyle/>
            <a:p>
              <a:endParaRPr lang="ko-KR" altLang="en-US"/>
            </a:p>
          </p:txBody>
        </p:sp>
      </p:grpSp>
      <p:sp>
        <p:nvSpPr>
          <p:cNvPr id="4" name="TextBox 4"/>
          <p:cNvSpPr txBox="1"/>
          <p:nvPr/>
        </p:nvSpPr>
        <p:spPr>
          <a:xfrm>
            <a:off x="1028700" y="847725"/>
            <a:ext cx="1485900" cy="66992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5599"/>
              </a:lnSpc>
              <a:spcBef>
                <a:spcPct val="0"/>
              </a:spcBef>
            </a:pPr>
            <a:r>
              <a:rPr lang="en-US" sz="3999" b="1" dirty="0" err="1">
                <a:solidFill>
                  <a:srgbClr val="EFEFEF"/>
                </a:solidFill>
                <a:latin typeface="Montserrat Semi-Bold"/>
                <a:ea typeface="Montserrat Semi-Bold"/>
                <a:cs typeface="Montserrat Semi-Bold"/>
                <a:sym typeface="Montserrat Semi-Bold"/>
              </a:rPr>
              <a:t>관리</a:t>
            </a:r>
            <a:endParaRPr lang="en-US" sz="3999" b="1" dirty="0">
              <a:solidFill>
                <a:srgbClr val="EFEFEF"/>
              </a:solidFill>
              <a:latin typeface="Montserrat Semi-Bold"/>
              <a:ea typeface="Montserrat Semi-Bold"/>
              <a:cs typeface="Montserrat Semi-Bold"/>
              <a:sym typeface="Montserrat Semi-Bold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B2B2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6485055" y="0"/>
            <a:ext cx="11802945" cy="10287000"/>
            <a:chOff x="0" y="0"/>
            <a:chExt cx="1828585" cy="1593725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1828585" cy="1593725"/>
            </a:xfrm>
            <a:custGeom>
              <a:avLst/>
              <a:gdLst/>
              <a:ahLst/>
              <a:cxnLst/>
              <a:rect l="l" t="t" r="r" b="b"/>
              <a:pathLst>
                <a:path w="1828585" h="1593725">
                  <a:moveTo>
                    <a:pt x="0" y="0"/>
                  </a:moveTo>
                  <a:lnTo>
                    <a:pt x="1828585" y="0"/>
                  </a:lnTo>
                  <a:lnTo>
                    <a:pt x="1828585" y="1593725"/>
                  </a:lnTo>
                  <a:lnTo>
                    <a:pt x="0" y="1593725"/>
                  </a:lnTo>
                  <a:close/>
                </a:path>
              </a:pathLst>
            </a:custGeom>
            <a:blipFill>
              <a:blip r:embed="rId2"/>
              <a:stretch>
                <a:fillRect l="-15408" r="-15408"/>
              </a:stretch>
            </a:blipFill>
          </p:spPr>
          <p:txBody>
            <a:bodyPr/>
            <a:lstStyle/>
            <a:p>
              <a:endParaRPr lang="ko-KR" altLang="en-US"/>
            </a:p>
          </p:txBody>
        </p:sp>
      </p:grpSp>
      <p:sp>
        <p:nvSpPr>
          <p:cNvPr id="4" name="TextBox 4"/>
          <p:cNvSpPr txBox="1"/>
          <p:nvPr/>
        </p:nvSpPr>
        <p:spPr>
          <a:xfrm>
            <a:off x="1028700" y="847725"/>
            <a:ext cx="1409700" cy="66992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5599"/>
              </a:lnSpc>
              <a:spcBef>
                <a:spcPct val="0"/>
              </a:spcBef>
            </a:pPr>
            <a:r>
              <a:rPr lang="en-US" sz="3999" b="1" dirty="0" err="1">
                <a:solidFill>
                  <a:srgbClr val="EFEFEF"/>
                </a:solidFill>
                <a:latin typeface="Montserrat Semi-Bold"/>
                <a:ea typeface="Montserrat Semi-Bold"/>
                <a:cs typeface="Montserrat Semi-Bold"/>
                <a:sym typeface="Montserrat Semi-Bold"/>
              </a:rPr>
              <a:t>세무</a:t>
            </a:r>
            <a:endParaRPr lang="en-US" sz="3999" b="1" dirty="0">
              <a:solidFill>
                <a:srgbClr val="EFEFEF"/>
              </a:solidFill>
              <a:latin typeface="Montserrat Semi-Bold"/>
              <a:ea typeface="Montserrat Semi-Bold"/>
              <a:cs typeface="Montserrat Semi-Bold"/>
              <a:sym typeface="Montserrat Semi-Bold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B2B2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6485055" y="0"/>
            <a:ext cx="11802945" cy="10287000"/>
            <a:chOff x="0" y="0"/>
            <a:chExt cx="1828585" cy="1593725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1828585" cy="1593725"/>
            </a:xfrm>
            <a:custGeom>
              <a:avLst/>
              <a:gdLst/>
              <a:ahLst/>
              <a:cxnLst/>
              <a:rect l="l" t="t" r="r" b="b"/>
              <a:pathLst>
                <a:path w="1828585" h="1593725">
                  <a:moveTo>
                    <a:pt x="0" y="0"/>
                  </a:moveTo>
                  <a:lnTo>
                    <a:pt x="1828585" y="0"/>
                  </a:lnTo>
                  <a:lnTo>
                    <a:pt x="1828585" y="1593725"/>
                  </a:lnTo>
                  <a:lnTo>
                    <a:pt x="0" y="1593725"/>
                  </a:lnTo>
                  <a:close/>
                </a:path>
              </a:pathLst>
            </a:custGeom>
            <a:blipFill>
              <a:blip r:embed="rId2"/>
              <a:stretch>
                <a:fillRect l="-15408" r="-15408"/>
              </a:stretch>
            </a:blipFill>
          </p:spPr>
          <p:txBody>
            <a:bodyPr/>
            <a:lstStyle/>
            <a:p>
              <a:endParaRPr lang="ko-KR" altLang="en-US"/>
            </a:p>
          </p:txBody>
        </p:sp>
      </p:grpSp>
      <p:sp>
        <p:nvSpPr>
          <p:cNvPr id="5" name="TextBox 5"/>
          <p:cNvSpPr txBox="1"/>
          <p:nvPr/>
        </p:nvSpPr>
        <p:spPr>
          <a:xfrm>
            <a:off x="1028700" y="847725"/>
            <a:ext cx="1714500" cy="66992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5599"/>
              </a:lnSpc>
              <a:spcBef>
                <a:spcPct val="0"/>
              </a:spcBef>
            </a:pPr>
            <a:r>
              <a:rPr lang="en-US" sz="3999" b="1" dirty="0" err="1">
                <a:solidFill>
                  <a:srgbClr val="EFEFEF"/>
                </a:solidFill>
                <a:latin typeface="Montserrat Semi-Bold"/>
                <a:ea typeface="Montserrat Semi-Bold"/>
                <a:cs typeface="Montserrat Semi-Bold"/>
                <a:sym typeface="Montserrat Semi-Bold"/>
              </a:rPr>
              <a:t>상속</a:t>
            </a:r>
            <a:endParaRPr lang="en-US" sz="3999" b="1" dirty="0">
              <a:solidFill>
                <a:srgbClr val="EFEFEF"/>
              </a:solidFill>
              <a:latin typeface="Montserrat Semi-Bold"/>
              <a:ea typeface="Montserrat Semi-Bold"/>
              <a:cs typeface="Montserrat Semi-Bold"/>
              <a:sym typeface="Montserrat Semi-Bold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B2B2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1028700" y="847725"/>
            <a:ext cx="4018955" cy="6699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599"/>
              </a:lnSpc>
              <a:spcBef>
                <a:spcPct val="0"/>
              </a:spcBef>
            </a:pPr>
            <a:r>
              <a:rPr lang="en-US" sz="3999" b="1">
                <a:solidFill>
                  <a:srgbClr val="EFEFEF"/>
                </a:solidFill>
                <a:latin typeface="Montserrat Semi-Bold"/>
                <a:ea typeface="Montserrat Semi-Bold"/>
                <a:cs typeface="Montserrat Semi-Bold"/>
                <a:sym typeface="Montserrat Semi-Bold"/>
              </a:rPr>
              <a:t>차별성 및 경쟁우위</a:t>
            </a:r>
          </a:p>
        </p:txBody>
      </p:sp>
      <p:sp>
        <p:nvSpPr>
          <p:cNvPr id="3" name="AutoShape 3"/>
          <p:cNvSpPr/>
          <p:nvPr/>
        </p:nvSpPr>
        <p:spPr>
          <a:xfrm>
            <a:off x="10434982" y="3613472"/>
            <a:ext cx="6824318" cy="0"/>
          </a:xfrm>
          <a:prstGeom prst="line">
            <a:avLst/>
          </a:prstGeom>
          <a:ln w="9525" cap="flat">
            <a:solidFill>
              <a:srgbClr val="EFEFEF">
                <a:alpha val="40000"/>
              </a:srgbClr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" name="AutoShape 4"/>
          <p:cNvSpPr/>
          <p:nvPr/>
        </p:nvSpPr>
        <p:spPr>
          <a:xfrm>
            <a:off x="10434982" y="5700684"/>
            <a:ext cx="6824318" cy="0"/>
          </a:xfrm>
          <a:prstGeom prst="line">
            <a:avLst/>
          </a:prstGeom>
          <a:ln w="9525" cap="flat">
            <a:solidFill>
              <a:srgbClr val="EFEFEF">
                <a:alpha val="40000"/>
              </a:srgbClr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" name="AutoShape 5"/>
          <p:cNvSpPr/>
          <p:nvPr/>
        </p:nvSpPr>
        <p:spPr>
          <a:xfrm>
            <a:off x="10434982" y="7787896"/>
            <a:ext cx="6824318" cy="0"/>
          </a:xfrm>
          <a:prstGeom prst="line">
            <a:avLst/>
          </a:prstGeom>
          <a:ln w="9525" cap="flat">
            <a:solidFill>
              <a:srgbClr val="EFEFEF">
                <a:alpha val="40000"/>
              </a:srgbClr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" name="AutoShape 6"/>
          <p:cNvSpPr/>
          <p:nvPr/>
        </p:nvSpPr>
        <p:spPr>
          <a:xfrm>
            <a:off x="10915913" y="5202882"/>
            <a:ext cx="187918" cy="0"/>
          </a:xfrm>
          <a:prstGeom prst="line">
            <a:avLst/>
          </a:prstGeom>
          <a:ln w="9525" cap="flat">
            <a:solidFill>
              <a:srgbClr val="EFEFEF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7" name="AutoShape 7"/>
          <p:cNvSpPr/>
          <p:nvPr/>
        </p:nvSpPr>
        <p:spPr>
          <a:xfrm>
            <a:off x="10915913" y="7290094"/>
            <a:ext cx="187918" cy="0"/>
          </a:xfrm>
          <a:prstGeom prst="line">
            <a:avLst/>
          </a:prstGeom>
          <a:ln w="9525" cap="flat">
            <a:solidFill>
              <a:srgbClr val="EFEFEF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8" name="AutoShape 8"/>
          <p:cNvSpPr/>
          <p:nvPr/>
        </p:nvSpPr>
        <p:spPr>
          <a:xfrm>
            <a:off x="10915913" y="9377306"/>
            <a:ext cx="187918" cy="0"/>
          </a:xfrm>
          <a:prstGeom prst="line">
            <a:avLst/>
          </a:prstGeom>
          <a:ln w="9525" cap="flat">
            <a:solidFill>
              <a:srgbClr val="EFEFEF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ko-KR" alt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B2B2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5"/>
          <p:cNvSpPr txBox="1"/>
          <p:nvPr/>
        </p:nvSpPr>
        <p:spPr>
          <a:xfrm>
            <a:off x="1028700" y="8197955"/>
            <a:ext cx="2901134" cy="1098445"/>
          </a:xfrm>
          <a:prstGeom prst="rect">
            <a:avLst/>
          </a:prstGeom>
        </p:spPr>
        <p:txBody>
          <a:bodyPr lIns="50800" tIns="50800" rIns="50800" bIns="50800" rtlCol="0" anchor="ctr"/>
          <a:lstStyle/>
          <a:p>
            <a:pPr algn="ctr">
              <a:lnSpc>
                <a:spcPts val="2243"/>
              </a:lnSpc>
            </a:pPr>
            <a:endParaRPr/>
          </a:p>
        </p:txBody>
      </p:sp>
      <p:sp>
        <p:nvSpPr>
          <p:cNvPr id="10" name="TextBox 10"/>
          <p:cNvSpPr txBox="1"/>
          <p:nvPr/>
        </p:nvSpPr>
        <p:spPr>
          <a:xfrm>
            <a:off x="11590615" y="923925"/>
            <a:ext cx="5668685" cy="82105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6719"/>
              </a:lnSpc>
              <a:spcBef>
                <a:spcPct val="0"/>
              </a:spcBef>
            </a:pPr>
            <a:r>
              <a:rPr lang="en-US" sz="4800" b="1">
                <a:solidFill>
                  <a:srgbClr val="EFEFEF"/>
                </a:solidFill>
                <a:latin typeface="JASO Sans Bold"/>
                <a:ea typeface="JASO Sans Bold"/>
                <a:cs typeface="JASO Sans Bold"/>
                <a:sym typeface="JASO Sans Bold"/>
              </a:rPr>
              <a:t>시장 효과 및 기대 가치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B2B2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1460936" y="6204359"/>
            <a:ext cx="15366128" cy="309424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9226"/>
              </a:lnSpc>
              <a:spcBef>
                <a:spcPct val="0"/>
              </a:spcBef>
            </a:pPr>
            <a:r>
              <a:rPr lang="en-US" sz="9600" b="1" dirty="0" err="1">
                <a:solidFill>
                  <a:srgbClr val="EFEFEF"/>
                </a:solidFill>
                <a:latin typeface="HY헤드라인M" panose="02030600000101010101" pitchFamily="18" charset="-127"/>
                <a:ea typeface="HY헤드라인M" panose="02030600000101010101" pitchFamily="18" charset="-127"/>
                <a:cs typeface="Montserrat Semi-Bold"/>
                <a:sym typeface="Montserrat Semi-Bold"/>
              </a:rPr>
              <a:t>결론</a:t>
            </a:r>
            <a:endParaRPr lang="en-US" sz="9600" b="1" dirty="0">
              <a:solidFill>
                <a:srgbClr val="EFEFEF"/>
              </a:solidFill>
              <a:latin typeface="HY헤드라인M" panose="02030600000101010101" pitchFamily="18" charset="-127"/>
              <a:ea typeface="HY헤드라인M" panose="02030600000101010101" pitchFamily="18" charset="-127"/>
              <a:cs typeface="Montserrat Semi-Bold"/>
              <a:sym typeface="Montserrat Semi-Bold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129</Words>
  <Application>Microsoft Office PowerPoint</Application>
  <PresentationFormat>Custom</PresentationFormat>
  <Paragraphs>32</Paragraphs>
  <Slides>10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1" baseType="lpstr"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블랙 화이트 깔끔한 포토그래퍼 포트폴리오 프레젠테이션</dc:title>
  <cp:lastModifiedBy>leesejin</cp:lastModifiedBy>
  <cp:revision>7</cp:revision>
  <dcterms:created xsi:type="dcterms:W3CDTF">2006-08-16T00:00:00Z</dcterms:created>
  <dcterms:modified xsi:type="dcterms:W3CDTF">2025-10-22T08:15:36Z</dcterms:modified>
  <dc:identifier>DAG2fl1qVDE</dc:identifier>
</cp:coreProperties>
</file>